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Roboto"/>
      <p:regular r:id="rId7"/>
      <p:bold r:id="rId8"/>
      <p:italic r:id="rId9"/>
      <p:boldItalic r:id="rId10"/>
    </p:embeddedFont>
    <p:embeddedFont>
      <p:font typeface="Google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GoogleSans-regular.fntdata"/><Relationship Id="rId10" Type="http://schemas.openxmlformats.org/officeDocument/2006/relationships/font" Target="fonts/Roboto-boldItalic.fntdata"/><Relationship Id="rId13" Type="http://schemas.openxmlformats.org/officeDocument/2006/relationships/font" Target="fonts/GoogleSans-italic.fntdata"/><Relationship Id="rId12" Type="http://schemas.openxmlformats.org/officeDocument/2006/relationships/font" Target="fonts/Google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italic.fntdata"/><Relationship Id="rId14" Type="http://schemas.openxmlformats.org/officeDocument/2006/relationships/font" Target="fonts/Google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-regular.fntdata"/><Relationship Id="rId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3744909" y="70550"/>
            <a:ext cx="5109300" cy="5109300"/>
          </a:xfrm>
          <a:prstGeom prst="ellipse">
            <a:avLst/>
          </a:prstGeom>
          <a:solidFill>
            <a:srgbClr val="E6B8AF">
              <a:alpha val="38750"/>
            </a:srgbClr>
          </a:solidFill>
          <a:ln cap="flat" cmpd="sng" w="2857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" name="Google Shape;55;p13"/>
          <p:cNvGrpSpPr/>
          <p:nvPr/>
        </p:nvGrpSpPr>
        <p:grpSpPr>
          <a:xfrm>
            <a:off x="116816" y="70594"/>
            <a:ext cx="5109253" cy="5109253"/>
            <a:chOff x="2986712" y="1676962"/>
            <a:chExt cx="1854000" cy="1854000"/>
          </a:xfrm>
        </p:grpSpPr>
        <p:sp>
          <p:nvSpPr>
            <p:cNvPr id="56" name="Google Shape;56;p13"/>
            <p:cNvSpPr/>
            <p:nvPr/>
          </p:nvSpPr>
          <p:spPr>
            <a:xfrm>
              <a:off x="2986712" y="1676962"/>
              <a:ext cx="1854000" cy="1854000"/>
            </a:xfrm>
            <a:prstGeom prst="ellipse">
              <a:avLst/>
            </a:prstGeom>
            <a:solidFill>
              <a:srgbClr val="DEE7F2">
                <a:alpha val="64709"/>
              </a:srgbClr>
            </a:solidFill>
            <a:ln cap="flat" cmpd="sng" w="28575">
              <a:solidFill>
                <a:srgbClr val="A1C3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 txBox="1"/>
            <p:nvPr/>
          </p:nvSpPr>
          <p:spPr>
            <a:xfrm>
              <a:off x="3606964" y="1726110"/>
              <a:ext cx="613500" cy="29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chemeClr val="dk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Wireshark</a:t>
              </a:r>
              <a:endParaRPr b="1" sz="1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sp>
        <p:nvSpPr>
          <p:cNvPr id="58" name="Google Shape;58;p13"/>
          <p:cNvSpPr txBox="1"/>
          <p:nvPr/>
        </p:nvSpPr>
        <p:spPr>
          <a:xfrm>
            <a:off x="5805900" y="206050"/>
            <a:ext cx="11625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tcpdump</a:t>
            </a:r>
            <a:endParaRPr b="1" sz="1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915150" y="1366575"/>
            <a:ext cx="11202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Similarities</a:t>
            </a:r>
            <a:endParaRPr sz="1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539766" y="1574345"/>
            <a:ext cx="27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1084463" y="1149752"/>
            <a:ext cx="2777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sz="1100" lang="en">
                <a:solidFill>
                  <a:schemeClr val="dk1"/>
                </a:solidFill>
                <a:latin typeface="Roboto"/>
              </a:rPr>
              <a:t>Graphical user interface (GUI) for visual analysis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sz="1100" lang="en">
                <a:solidFill>
                  <a:schemeClr val="dk1"/>
                </a:solidFill>
                <a:latin typeface="Roboto"/>
              </a:rPr>
              <a:t>Color-coded packet display for easy traffic identification</a:t>
            </a:r>
          </a:p>
          <a:p>
            <a:pPr indent="-298450" lvl="0" marL="457200" rtl="0" algn="l">
              <a:buNone/>
            </a:pPr>
            <a:endParaRPr sz="1100">
              <a:solidFill>
                <a:schemeClr val="dk1"/>
              </a:solidFill>
              <a:latin typeface="Roboto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3940200" y="1836375"/>
            <a:ext cx="107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•"/>
            </a:pPr>
            <a:r>
              <a:rPr sz="1000" lang="en">
                <a:solidFill>
                  <a:schemeClr val="dk1"/>
                </a:solidFill>
                <a:latin typeface="Roboto"/>
              </a:rPr>
              <a:t>Both open-source and free</a:t>
            </a:r>
          </a:p>
          <a:p>
            <a:pPr indent="-29210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•"/>
            </a:pPr>
            <a:r>
              <a:rPr sz="1000" lang="en">
                <a:solidFill>
                  <a:schemeClr val="dk1"/>
                </a:solidFill>
                <a:latin typeface="Roboto"/>
              </a:rPr>
              <a:t>Capture and analyze network packets</a:t>
            </a:r>
          </a:p>
          <a:p>
            <a:pPr indent="-29210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•"/>
            </a:pPr>
            <a:r>
              <a:rPr sz="1000" lang="en">
                <a:solidFill>
                  <a:schemeClr val="dk1"/>
                </a:solidFill>
                <a:latin typeface="Roboto"/>
              </a:rPr>
              <a:t>Support BPF filter syntax</a:t>
            </a:r>
          </a:p>
          <a:p>
            <a:pPr indent="-292100" lvl="0" marL="274320" rtl="0" algn="l">
              <a:buNone/>
            </a:pPr>
            <a:endParaRPr sz="1000">
              <a:solidFill>
                <a:schemeClr val="dk1"/>
              </a:solidFill>
              <a:latin typeface="Roboto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4998288" y="1149752"/>
            <a:ext cx="2777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sz="1100" lang="en">
                <a:solidFill>
                  <a:schemeClr val="dk1"/>
                </a:solidFill>
                <a:latin typeface="Roboto"/>
              </a:rPr>
              <a:t>Command-line interface (CLI) — ideal for scripting</a:t>
            </a: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sz="1100" lang="en">
                <a:solidFill>
                  <a:schemeClr val="dk1"/>
                </a:solidFill>
                <a:latin typeface="Roboto"/>
              </a:rPr>
              <a:t>Pre-installed on most Linux/Unix systems</a:t>
            </a:r>
          </a:p>
          <a:p>
            <a:pPr indent="-298450" lvl="0" marL="457200" rtl="0" algn="l">
              <a:buNone/>
            </a:pPr>
            <a:endParaRPr sz="1100">
              <a:solidFill>
                <a:schemeClr val="dk1"/>
              </a:solidFill>
              <a:latin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