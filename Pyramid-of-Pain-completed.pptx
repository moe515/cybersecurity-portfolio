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Lst>
  <p:sldSz cy="5143500" cx="9144000"/>
  <p:notesSz cx="6858000" cy="9144000"/>
  <p:embeddedFontLst>
    <p:embeddedFont>
      <p:font typeface="Roboto"/>
      <p:regular r:id="rId8"/>
      <p:bold r:id="rId9"/>
      <p:italic r:id="rId10"/>
      <p:boldItalic r:id="rId11"/>
    </p:embeddedFont>
    <p:embeddedFont>
      <p:font typeface="Google Sans"/>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Roboto-boldItalic.fntdata"/><Relationship Id="rId10" Type="http://schemas.openxmlformats.org/officeDocument/2006/relationships/font" Target="fonts/Roboto-italic.fntdata"/><Relationship Id="rId13" Type="http://schemas.openxmlformats.org/officeDocument/2006/relationships/font" Target="fonts/GoogleSans-bold.fntdata"/><Relationship Id="rId12" Type="http://schemas.openxmlformats.org/officeDocument/2006/relationships/font" Target="fonts/GoogleSa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Roboto-bold.fntdata"/><Relationship Id="rId15" Type="http://schemas.openxmlformats.org/officeDocument/2006/relationships/font" Target="fonts/GoogleSans-boldItalic.fntdata"/><Relationship Id="rId14" Type="http://schemas.openxmlformats.org/officeDocument/2006/relationships/font" Target="fonts/Google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9419f719b3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9419f719b3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idx="1" type="body"/>
          </p:nvPr>
        </p:nvSpPr>
        <p:spPr>
          <a:xfrm>
            <a:off x="311700" y="419550"/>
            <a:ext cx="7684800" cy="9285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05"/>
              <a:buNone/>
            </a:pPr>
            <a:r>
              <a:rPr b="1" lang="en" sz="1790">
                <a:solidFill>
                  <a:schemeClr val="dk1"/>
                </a:solidFill>
                <a:latin typeface="Google Sans"/>
                <a:ea typeface="Google Sans"/>
                <a:cs typeface="Google Sans"/>
                <a:sym typeface="Google Sans"/>
              </a:rPr>
              <a:t>Has this file been identified as malicious? Explain why or why not.</a:t>
            </a:r>
            <a:endParaRPr b="1" sz="1790">
              <a:solidFill>
                <a:schemeClr val="dk1"/>
              </a:solidFill>
              <a:latin typeface="Google Sans"/>
              <a:ea typeface="Google Sans"/>
              <a:cs typeface="Google Sans"/>
              <a:sym typeface="Google Sans"/>
            </a:endParaRPr>
          </a:p>
          <a:p>
            <a:pPr indent="0" lvl="0" marL="0" rtl="0" algn="l">
              <a:lnSpc>
                <a:spcPct val="95000"/>
              </a:lnSpc>
              <a:spcBef>
                <a:spcPts val="1200"/>
              </a:spcBef>
              <a:spcAft>
                <a:spcPts val="0"/>
              </a:spcAft>
              <a:buSzPts val="605"/>
              <a:buNone/>
            </a:pPr>
            <a:r>
              <a:t/>
            </a:r>
            <a:endParaRPr b="1" sz="1790">
              <a:solidFill>
                <a:schemeClr val="dk1"/>
              </a:solidFill>
              <a:latin typeface="Google Sans"/>
              <a:ea typeface="Google Sans"/>
              <a:cs typeface="Google Sans"/>
              <a:sym typeface="Google Sans"/>
            </a:endParaRPr>
          </a:p>
          <a:p>
            <a:pPr indent="0" lvl="0" marL="0" rtl="0" algn="l">
              <a:lnSpc>
                <a:spcPct val="95000"/>
              </a:lnSpc>
              <a:spcBef>
                <a:spcPts val="1200"/>
              </a:spcBef>
              <a:spcAft>
                <a:spcPts val="1200"/>
              </a:spcAft>
              <a:buSzPts val="605"/>
              <a:buNone/>
            </a:pPr>
            <a:r>
              <a:t/>
            </a:r>
            <a:endParaRPr b="1" sz="1790">
              <a:solidFill>
                <a:schemeClr val="dk1"/>
              </a:solidFill>
              <a:latin typeface="Google Sans"/>
              <a:ea typeface="Google Sans"/>
              <a:cs typeface="Google Sans"/>
              <a:sym typeface="Google Sans"/>
            </a:endParaRPr>
          </a:p>
        </p:txBody>
      </p:sp>
      <p:sp>
        <p:nvSpPr>
          <p:cNvPr id="55" name="Google Shape;55;p13"/>
          <p:cNvSpPr txBox="1"/>
          <p:nvPr/>
        </p:nvSpPr>
        <p:spPr>
          <a:xfrm>
            <a:off x="311700" y="1060100"/>
            <a:ext cx="753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34343"/>
                </a:solidFill>
              </a:rPr>
              <a:t>Yes, this file has been identified as malicious. According to VirusTotal, 58 out of 72 security vendors flagged this file as malicious. The file is known as Flagpro malware, commonly used by the threat actor BlackTech. The community score is also negative, further confirming that this file poses a genuine security threat.</a:t>
            </a:r>
            <a:endParaRPr>
              <a:solidFill>
                <a:srgbClr val="434343"/>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grpSp>
        <p:nvGrpSpPr>
          <p:cNvPr id="60" name="Google Shape;60;p14"/>
          <p:cNvGrpSpPr/>
          <p:nvPr/>
        </p:nvGrpSpPr>
        <p:grpSpPr>
          <a:xfrm>
            <a:off x="52400" y="399200"/>
            <a:ext cx="5417400" cy="4685400"/>
            <a:chOff x="52400" y="399200"/>
            <a:chExt cx="5417400" cy="4685400"/>
          </a:xfrm>
        </p:grpSpPr>
        <p:sp>
          <p:nvSpPr>
            <p:cNvPr id="61" name="Google Shape;61;p14"/>
            <p:cNvSpPr/>
            <p:nvPr/>
          </p:nvSpPr>
          <p:spPr>
            <a:xfrm>
              <a:off x="52400" y="399200"/>
              <a:ext cx="5417400" cy="4685400"/>
            </a:xfrm>
            <a:prstGeom prst="triangle">
              <a:avLst>
                <a:gd fmla="val 50000" name="adj"/>
              </a:avLst>
            </a:prstGeom>
            <a:solidFill>
              <a:schemeClr val="accent1"/>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2" name="Google Shape;62;p14"/>
            <p:cNvCxnSpPr/>
            <p:nvPr/>
          </p:nvCxnSpPr>
          <p:spPr>
            <a:xfrm>
              <a:off x="2174888" y="1426450"/>
              <a:ext cx="1162500" cy="0"/>
            </a:xfrm>
            <a:prstGeom prst="straightConnector1">
              <a:avLst/>
            </a:prstGeom>
            <a:noFill/>
            <a:ln cap="flat" cmpd="sng" w="28575">
              <a:solidFill>
                <a:srgbClr val="FFFFFF"/>
              </a:solidFill>
              <a:prstDash val="solid"/>
              <a:round/>
              <a:headEnd len="med" w="med" type="none"/>
              <a:tailEnd len="med" w="med" type="none"/>
            </a:ln>
          </p:spPr>
        </p:cxnSp>
        <p:cxnSp>
          <p:nvCxnSpPr>
            <p:cNvPr id="63" name="Google Shape;63;p14"/>
            <p:cNvCxnSpPr/>
            <p:nvPr/>
          </p:nvCxnSpPr>
          <p:spPr>
            <a:xfrm>
              <a:off x="1714500" y="2214625"/>
              <a:ext cx="2094000" cy="0"/>
            </a:xfrm>
            <a:prstGeom prst="straightConnector1">
              <a:avLst/>
            </a:prstGeom>
            <a:noFill/>
            <a:ln cap="flat" cmpd="sng" w="28575">
              <a:solidFill>
                <a:srgbClr val="FFFFFF"/>
              </a:solidFill>
              <a:prstDash val="solid"/>
              <a:round/>
              <a:headEnd len="med" w="med" type="none"/>
              <a:tailEnd len="med" w="med" type="none"/>
            </a:ln>
          </p:spPr>
        </p:cxnSp>
        <p:cxnSp>
          <p:nvCxnSpPr>
            <p:cNvPr id="64" name="Google Shape;64;p14"/>
            <p:cNvCxnSpPr/>
            <p:nvPr/>
          </p:nvCxnSpPr>
          <p:spPr>
            <a:xfrm>
              <a:off x="1269525" y="2976625"/>
              <a:ext cx="2970900" cy="0"/>
            </a:xfrm>
            <a:prstGeom prst="straightConnector1">
              <a:avLst/>
            </a:prstGeom>
            <a:noFill/>
            <a:ln cap="flat" cmpd="sng" w="28575">
              <a:solidFill>
                <a:srgbClr val="FFFFFF"/>
              </a:solidFill>
              <a:prstDash val="solid"/>
              <a:round/>
              <a:headEnd len="med" w="med" type="none"/>
              <a:tailEnd len="med" w="med" type="none"/>
            </a:ln>
          </p:spPr>
        </p:cxnSp>
        <p:cxnSp>
          <p:nvCxnSpPr>
            <p:cNvPr id="65" name="Google Shape;65;p14"/>
            <p:cNvCxnSpPr/>
            <p:nvPr/>
          </p:nvCxnSpPr>
          <p:spPr>
            <a:xfrm>
              <a:off x="903063" y="3665615"/>
              <a:ext cx="3729900" cy="0"/>
            </a:xfrm>
            <a:prstGeom prst="straightConnector1">
              <a:avLst/>
            </a:prstGeom>
            <a:noFill/>
            <a:ln cap="flat" cmpd="sng" w="28575">
              <a:solidFill>
                <a:srgbClr val="FFFFFF"/>
              </a:solidFill>
              <a:prstDash val="solid"/>
              <a:round/>
              <a:headEnd len="med" w="med" type="none"/>
              <a:tailEnd len="med" w="med" type="none"/>
            </a:ln>
          </p:spPr>
        </p:cxnSp>
        <p:cxnSp>
          <p:nvCxnSpPr>
            <p:cNvPr id="66" name="Google Shape;66;p14"/>
            <p:cNvCxnSpPr/>
            <p:nvPr/>
          </p:nvCxnSpPr>
          <p:spPr>
            <a:xfrm>
              <a:off x="484250" y="4351425"/>
              <a:ext cx="4541700" cy="0"/>
            </a:xfrm>
            <a:prstGeom prst="straightConnector1">
              <a:avLst/>
            </a:prstGeom>
            <a:noFill/>
            <a:ln cap="flat" cmpd="sng" w="28575">
              <a:solidFill>
                <a:srgbClr val="FFFFFF"/>
              </a:solidFill>
              <a:prstDash val="solid"/>
              <a:round/>
              <a:headEnd len="med" w="med" type="none"/>
              <a:tailEnd len="med" w="med" type="none"/>
            </a:ln>
          </p:spPr>
        </p:cxnSp>
      </p:grpSp>
      <p:sp>
        <p:nvSpPr>
          <p:cNvPr id="67" name="Google Shape;67;p14"/>
          <p:cNvSpPr txBox="1"/>
          <p:nvPr/>
        </p:nvSpPr>
        <p:spPr>
          <a:xfrm>
            <a:off x="2424313" y="863775"/>
            <a:ext cx="8055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lt1"/>
                </a:solidFill>
                <a:latin typeface="Google Sans"/>
                <a:ea typeface="Google Sans"/>
                <a:cs typeface="Google Sans"/>
                <a:sym typeface="Google Sans"/>
              </a:rPr>
              <a:t>TTPs</a:t>
            </a:r>
            <a:endParaRPr b="1" sz="1700">
              <a:solidFill>
                <a:schemeClr val="lt1"/>
              </a:solidFill>
              <a:latin typeface="Google Sans"/>
              <a:ea typeface="Google Sans"/>
              <a:cs typeface="Google Sans"/>
              <a:sym typeface="Google Sans"/>
            </a:endParaRPr>
          </a:p>
        </p:txBody>
      </p:sp>
      <p:sp>
        <p:nvSpPr>
          <p:cNvPr id="68" name="Google Shape;68;p14"/>
          <p:cNvSpPr txBox="1"/>
          <p:nvPr/>
        </p:nvSpPr>
        <p:spPr>
          <a:xfrm>
            <a:off x="2411226" y="1578950"/>
            <a:ext cx="8055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lt1"/>
                </a:solidFill>
                <a:latin typeface="Google Sans"/>
                <a:ea typeface="Google Sans"/>
                <a:cs typeface="Google Sans"/>
                <a:sym typeface="Google Sans"/>
              </a:rPr>
              <a:t>Tools</a:t>
            </a:r>
            <a:endParaRPr b="1" sz="1700">
              <a:solidFill>
                <a:schemeClr val="lt1"/>
              </a:solidFill>
              <a:latin typeface="Google Sans"/>
              <a:ea typeface="Google Sans"/>
              <a:cs typeface="Google Sans"/>
              <a:sym typeface="Google Sans"/>
            </a:endParaRPr>
          </a:p>
        </p:txBody>
      </p:sp>
      <p:sp>
        <p:nvSpPr>
          <p:cNvPr id="69" name="Google Shape;69;p14"/>
          <p:cNvSpPr txBox="1"/>
          <p:nvPr/>
        </p:nvSpPr>
        <p:spPr>
          <a:xfrm>
            <a:off x="1792100" y="2294125"/>
            <a:ext cx="1991400" cy="7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700">
                <a:solidFill>
                  <a:schemeClr val="lt1"/>
                </a:solidFill>
                <a:latin typeface="Google Sans"/>
                <a:ea typeface="Google Sans"/>
                <a:cs typeface="Google Sans"/>
                <a:sym typeface="Google Sans"/>
              </a:rPr>
              <a:t>Network/host artifacts</a:t>
            </a:r>
            <a:endParaRPr b="1" sz="1700">
              <a:solidFill>
                <a:schemeClr val="lt1"/>
              </a:solidFill>
              <a:latin typeface="Google Sans"/>
              <a:ea typeface="Google Sans"/>
              <a:cs typeface="Google Sans"/>
              <a:sym typeface="Google Sans"/>
            </a:endParaRPr>
          </a:p>
        </p:txBody>
      </p:sp>
      <p:sp>
        <p:nvSpPr>
          <p:cNvPr id="70" name="Google Shape;70;p14"/>
          <p:cNvSpPr txBox="1"/>
          <p:nvPr/>
        </p:nvSpPr>
        <p:spPr>
          <a:xfrm>
            <a:off x="1978962" y="3118675"/>
            <a:ext cx="2048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lt1"/>
                </a:solidFill>
                <a:latin typeface="Google Sans"/>
                <a:ea typeface="Google Sans"/>
                <a:cs typeface="Google Sans"/>
                <a:sym typeface="Google Sans"/>
              </a:rPr>
              <a:t>Domain names</a:t>
            </a:r>
            <a:endParaRPr b="1" sz="1700">
              <a:solidFill>
                <a:schemeClr val="lt1"/>
              </a:solidFill>
              <a:latin typeface="Google Sans"/>
              <a:ea typeface="Google Sans"/>
              <a:cs typeface="Google Sans"/>
              <a:sym typeface="Google Sans"/>
            </a:endParaRPr>
          </a:p>
        </p:txBody>
      </p:sp>
      <p:sp>
        <p:nvSpPr>
          <p:cNvPr id="71" name="Google Shape;71;p14"/>
          <p:cNvSpPr txBox="1"/>
          <p:nvPr/>
        </p:nvSpPr>
        <p:spPr>
          <a:xfrm>
            <a:off x="1978962" y="3755325"/>
            <a:ext cx="2048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lt1"/>
                </a:solidFill>
                <a:latin typeface="Google Sans"/>
                <a:ea typeface="Google Sans"/>
                <a:cs typeface="Google Sans"/>
                <a:sym typeface="Google Sans"/>
              </a:rPr>
              <a:t>IP addresses</a:t>
            </a:r>
            <a:endParaRPr b="1" sz="1700">
              <a:solidFill>
                <a:schemeClr val="lt1"/>
              </a:solidFill>
              <a:latin typeface="Google Sans"/>
              <a:ea typeface="Google Sans"/>
              <a:cs typeface="Google Sans"/>
              <a:sym typeface="Google Sans"/>
            </a:endParaRPr>
          </a:p>
        </p:txBody>
      </p:sp>
      <p:sp>
        <p:nvSpPr>
          <p:cNvPr id="72" name="Google Shape;72;p14"/>
          <p:cNvSpPr txBox="1"/>
          <p:nvPr/>
        </p:nvSpPr>
        <p:spPr>
          <a:xfrm>
            <a:off x="1978962" y="4457425"/>
            <a:ext cx="2048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lt1"/>
                </a:solidFill>
                <a:latin typeface="Google Sans"/>
                <a:ea typeface="Google Sans"/>
                <a:cs typeface="Google Sans"/>
                <a:sym typeface="Google Sans"/>
              </a:rPr>
              <a:t>Hash values</a:t>
            </a:r>
            <a:endParaRPr b="1" sz="1700">
              <a:solidFill>
                <a:schemeClr val="lt1"/>
              </a:solidFill>
              <a:latin typeface="Google Sans"/>
              <a:ea typeface="Google Sans"/>
              <a:cs typeface="Google Sans"/>
              <a:sym typeface="Google Sans"/>
            </a:endParaRPr>
          </a:p>
        </p:txBody>
      </p:sp>
      <p:cxnSp>
        <p:nvCxnSpPr>
          <p:cNvPr id="73" name="Google Shape;73;p14"/>
          <p:cNvCxnSpPr/>
          <p:nvPr/>
        </p:nvCxnSpPr>
        <p:spPr>
          <a:xfrm>
            <a:off x="3153750" y="1086374"/>
            <a:ext cx="1694700" cy="6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74" name="Google Shape;74;p14"/>
          <p:cNvSpPr/>
          <p:nvPr/>
        </p:nvSpPr>
        <p:spPr>
          <a:xfrm>
            <a:off x="4848450" y="824324"/>
            <a:ext cx="2020500" cy="525300"/>
          </a:xfrm>
          <a:prstGeom prst="roundRect">
            <a:avLst>
              <a:gd fmla="val 16667"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Google Sans"/>
                <a:ea typeface="Google Sans"/>
                <a:cs typeface="Google Sans"/>
                <a:sym typeface="Google Sans"/>
              </a:rPr>
              <a:t>T1566.001 - Spearphishing</a:t>
            </a:r>
          </a:p>
          <a:p>
            <a:pPr indent="0" lvl="0" marL="0" rtl="0" algn="ctr">
              <a:spcBef>
                <a:spcPts val="0"/>
              </a:spcBef>
              <a:spcAft>
                <a:spcPts val="0"/>
              </a:spcAft>
              <a:buNone/>
            </a:pPr>
            <a:r>
              <a:rPr lang="en" sz="1100">
                <a:solidFill>
                  <a:schemeClr val="dk1"/>
                </a:solidFill>
                <a:latin typeface="Google Sans"/>
                <a:ea typeface="Google Sans"/>
                <a:cs typeface="Google Sans"/>
                <a:sym typeface="Google Sans"/>
              </a:rPr>
              <a:t>T1059 - Scripting</a:t>
            </a:r>
          </a:p>
          <a:p>
            <a:pPr indent="0" lvl="0" marL="0" rtl="0" algn="ctr">
              <a:spcBef>
                <a:spcPts val="0"/>
              </a:spcBef>
              <a:spcAft>
                <a:spcPts val="0"/>
              </a:spcAft>
              <a:buNone/>
            </a:pPr>
            <a:r>
              <a:rPr lang="en" sz="1100">
                <a:solidFill>
                  <a:schemeClr val="dk1"/>
                </a:solidFill>
                <a:latin typeface="Google Sans"/>
                <a:ea typeface="Google Sans"/>
                <a:cs typeface="Google Sans"/>
                <a:sym typeface="Google Sans"/>
              </a:rPr>
              <a:t>T1055 - Process Injection</a:t>
            </a:r>
          </a:p>
        </p:txBody>
      </p:sp>
      <p:cxnSp>
        <p:nvCxnSpPr>
          <p:cNvPr id="75" name="Google Shape;75;p14"/>
          <p:cNvCxnSpPr>
            <a:endCxn id="76" idx="1"/>
          </p:cNvCxnSpPr>
          <p:nvPr/>
        </p:nvCxnSpPr>
        <p:spPr>
          <a:xfrm>
            <a:off x="3578825" y="1801549"/>
            <a:ext cx="1694700" cy="6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76" name="Google Shape;76;p14"/>
          <p:cNvSpPr/>
          <p:nvPr/>
        </p:nvSpPr>
        <p:spPr>
          <a:xfrm>
            <a:off x="5273525" y="1539499"/>
            <a:ext cx="2020500" cy="525300"/>
          </a:xfrm>
          <a:prstGeom prst="roundRect">
            <a:avLst>
              <a:gd fmla="val 16667"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Google Sans"/>
                <a:ea typeface="Google Sans"/>
                <a:cs typeface="Google Sans"/>
                <a:sym typeface="Google Sans"/>
              </a:rPr>
              <a:t>Flagpro RAT</a:t>
            </a:r>
          </a:p>
          <a:p>
            <a:pPr indent="0" lvl="0" marL="0" rtl="0" algn="ctr">
              <a:spcBef>
                <a:spcPts val="0"/>
              </a:spcBef>
              <a:spcAft>
                <a:spcPts val="0"/>
              </a:spcAft>
              <a:buNone/>
            </a:pPr>
            <a:r>
              <a:rPr lang="en" sz="1100">
                <a:solidFill>
                  <a:schemeClr val="dk1"/>
                </a:solidFill>
                <a:latin typeface="Google Sans"/>
                <a:ea typeface="Google Sans"/>
                <a:cs typeface="Google Sans"/>
                <a:sym typeface="Google Sans"/>
              </a:rPr>
              <a:t>(BlackTech threat actor)</a:t>
            </a:r>
          </a:p>
        </p:txBody>
      </p:sp>
      <p:cxnSp>
        <p:nvCxnSpPr>
          <p:cNvPr id="77" name="Google Shape;77;p14"/>
          <p:cNvCxnSpPr>
            <a:endCxn id="78" idx="1"/>
          </p:cNvCxnSpPr>
          <p:nvPr/>
        </p:nvCxnSpPr>
        <p:spPr>
          <a:xfrm>
            <a:off x="3986625" y="2571149"/>
            <a:ext cx="1694700" cy="6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78" name="Google Shape;78;p14"/>
          <p:cNvSpPr/>
          <p:nvPr/>
        </p:nvSpPr>
        <p:spPr>
          <a:xfrm>
            <a:off x="5681325" y="2309099"/>
            <a:ext cx="2020500" cy="525300"/>
          </a:xfrm>
          <a:prstGeom prst="roundRect">
            <a:avLst>
              <a:gd fmla="val 16667"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Google Sans"/>
                <a:ea typeface="Google Sans"/>
                <a:cs typeface="Google Sans"/>
                <a:sym typeface="Google Sans"/>
              </a:rPr>
              <a:t>Unauthorized .exe files</a:t>
            </a:r>
          </a:p>
          <a:p>
            <a:pPr indent="0" lvl="0" marL="0" rtl="0" algn="ctr">
              <a:spcBef>
                <a:spcPts val="0"/>
              </a:spcBef>
              <a:spcAft>
                <a:spcPts val="0"/>
              </a:spcAft>
              <a:buNone/>
            </a:pPr>
            <a:r>
              <a:rPr lang="en" sz="1100">
                <a:solidFill>
                  <a:schemeClr val="dk1"/>
                </a:solidFill>
                <a:latin typeface="Google Sans"/>
                <a:ea typeface="Google Sans"/>
                <a:cs typeface="Google Sans"/>
                <a:sym typeface="Google Sans"/>
              </a:rPr>
              <a:t>created at 1:15 PM</a:t>
            </a:r>
          </a:p>
        </p:txBody>
      </p:sp>
      <p:cxnSp>
        <p:nvCxnSpPr>
          <p:cNvPr id="79" name="Google Shape;79;p14"/>
          <p:cNvCxnSpPr>
            <a:endCxn id="80" idx="1"/>
          </p:cNvCxnSpPr>
          <p:nvPr/>
        </p:nvCxnSpPr>
        <p:spPr>
          <a:xfrm>
            <a:off x="4426175" y="3274536"/>
            <a:ext cx="1694700" cy="6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80" name="Google Shape;80;p14"/>
          <p:cNvSpPr/>
          <p:nvPr/>
        </p:nvSpPr>
        <p:spPr>
          <a:xfrm>
            <a:off x="6120875" y="3012486"/>
            <a:ext cx="2020500" cy="525300"/>
          </a:xfrm>
          <a:prstGeom prst="roundRect">
            <a:avLst>
              <a:gd fmla="val 16667"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Google Sans"/>
                <a:ea typeface="Google Sans"/>
                <a:cs typeface="Google Sans"/>
                <a:sym typeface="Google Sans"/>
              </a:rPr>
              <a:t>org.misecure.com</a:t>
            </a:r>
          </a:p>
          <a:p>
            <a:pPr indent="0" lvl="0" marL="0" rtl="0" algn="ctr">
              <a:spcBef>
                <a:spcPts val="0"/>
              </a:spcBef>
              <a:spcAft>
                <a:spcPts val="0"/>
              </a:spcAft>
              <a:buNone/>
            </a:pPr>
            <a:r>
              <a:rPr lang="en" sz="1100">
                <a:solidFill>
                  <a:schemeClr val="dk1"/>
                </a:solidFill>
                <a:latin typeface="Google Sans"/>
                <a:ea typeface="Google Sans"/>
                <a:cs typeface="Google Sans"/>
                <a:sym typeface="Google Sans"/>
              </a:rPr>
              <a:t>(malicious C2 server)</a:t>
            </a:r>
          </a:p>
        </p:txBody>
      </p:sp>
      <p:cxnSp>
        <p:nvCxnSpPr>
          <p:cNvPr id="81" name="Google Shape;81;p14"/>
          <p:cNvCxnSpPr>
            <a:endCxn id="82" idx="1"/>
          </p:cNvCxnSpPr>
          <p:nvPr/>
        </p:nvCxnSpPr>
        <p:spPr>
          <a:xfrm>
            <a:off x="4835525" y="3977924"/>
            <a:ext cx="1694700" cy="6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82" name="Google Shape;82;p14"/>
          <p:cNvSpPr/>
          <p:nvPr/>
        </p:nvSpPr>
        <p:spPr>
          <a:xfrm>
            <a:off x="6530225" y="3715874"/>
            <a:ext cx="2020500" cy="525300"/>
          </a:xfrm>
          <a:prstGeom prst="roundRect">
            <a:avLst>
              <a:gd fmla="val 16667"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Google Sans"/>
                <a:ea typeface="Google Sans"/>
                <a:cs typeface="Google Sans"/>
                <a:sym typeface="Google Sans"/>
              </a:rPr>
              <a:t>104.115.151.81</a:t>
            </a:r>
          </a:p>
        </p:txBody>
      </p:sp>
      <p:cxnSp>
        <p:nvCxnSpPr>
          <p:cNvPr id="83" name="Google Shape;83;p14"/>
          <p:cNvCxnSpPr/>
          <p:nvPr/>
        </p:nvCxnSpPr>
        <p:spPr>
          <a:xfrm>
            <a:off x="5211175" y="4680024"/>
            <a:ext cx="1605300" cy="6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84" name="Google Shape;84;p14"/>
          <p:cNvSpPr/>
          <p:nvPr/>
        </p:nvSpPr>
        <p:spPr>
          <a:xfrm>
            <a:off x="6816475" y="4417974"/>
            <a:ext cx="2020500" cy="525300"/>
          </a:xfrm>
          <a:prstGeom prst="roundRect">
            <a:avLst>
              <a:gd fmla="val 16667"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Google Sans"/>
                <a:ea typeface="Google Sans"/>
                <a:cs typeface="Google Sans"/>
                <a:sym typeface="Google Sans"/>
              </a:rPr>
              <a:t>MD5:</a:t>
            </a:r>
          </a:p>
          <a:p>
            <a:pPr indent="0" lvl="0" marL="0" rtl="0" algn="ctr">
              <a:spcBef>
                <a:spcPts val="0"/>
              </a:spcBef>
              <a:spcAft>
                <a:spcPts val="0"/>
              </a:spcAft>
              <a:buNone/>
            </a:pPr>
            <a:r>
              <a:rPr lang="en" sz="1100">
                <a:solidFill>
                  <a:schemeClr val="dk1"/>
                </a:solidFill>
                <a:latin typeface="Google Sans"/>
                <a:ea typeface="Google Sans"/>
                <a:cs typeface="Google Sans"/>
                <a:sym typeface="Google Sans"/>
              </a:rPr>
              <a:t>287d612e29b71c90aa</a:t>
            </a:r>
          </a:p>
          <a:p>
            <a:pPr indent="0" lvl="0" marL="0" rtl="0" algn="ctr">
              <a:spcBef>
                <a:spcPts val="0"/>
              </a:spcBef>
              <a:spcAft>
                <a:spcPts val="0"/>
              </a:spcAft>
              <a:buNone/>
            </a:pPr>
            <a:r>
              <a:rPr lang="en" sz="1100">
                <a:solidFill>
                  <a:schemeClr val="dk1"/>
                </a:solidFill>
                <a:latin typeface="Google Sans"/>
                <a:ea typeface="Google Sans"/>
                <a:cs typeface="Google Sans"/>
                <a:sym typeface="Google Sans"/>
              </a:rPr>
              <a:t>54947313810a25</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